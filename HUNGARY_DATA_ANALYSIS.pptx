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749039"/>
            <a:ext cx="12191695" cy="54864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Hungary (GYO) Tyre Yield-Alert Pipelines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 i="0" dirty="0">
                <a:solidFill>
                  <a:srgbClr val="BFD4EC"/>
                </a:solidFill>
                <a:latin typeface="Calibri"/>
              </a:rPr>
              <a:t> Guide  |  OE  -  REPL  -  Historical ETL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9FB8D6"/>
                </a:solidFill>
                <a:latin typeface="Calibri"/>
              </a:rPr>
              <a:t>Lot-id generation  -  incomplete-lot banking  -  shift conditions  -  Teams / PDF email  -  historical backfill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Big Picture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BFD4EC"/>
                </a:solidFill>
                <a:latin typeface="Calibri"/>
              </a:rPr>
              <a:t>Three independent jobs; shared Mongo (SSH tunnel) + Redshift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8708384"/>
              </p:ext>
            </p:extLst>
          </p:nvPr>
        </p:nvGraphicFramePr>
        <p:xfrm>
          <a:off x="457200" y="1371600"/>
          <a:ext cx="11247119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1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957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795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Job</a:t>
                      </a:r>
                    </a:p>
                  </a:txBody>
                  <a:tcPr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Files</a:t>
                      </a:r>
                    </a:p>
                  </a:txBody>
                  <a:tcPr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T="27432" marB="27432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3A5F"/>
                          </a:solidFill>
                          <a:latin typeface="Calibri"/>
                        </a:rPr>
                        <a:t>OE alerts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1F3A5F"/>
                          </a:solidFill>
                          <a:latin typeface="Calibri"/>
                        </a:rPr>
                        <a:t>hu</a:t>
                      </a:r>
                      <a:r>
                        <a:rPr lang="en-US" sz="1200" dirty="0">
                          <a:solidFill>
                            <a:srgbClr val="1F3A5F"/>
                          </a:solidFill>
                          <a:latin typeface="Calibri"/>
                        </a:rPr>
                        <a:t>n</a:t>
                      </a:r>
                      <a:r>
                        <a:rPr sz="1200" dirty="0">
                          <a:solidFill>
                            <a:srgbClr val="1F3A5F"/>
                          </a:solidFill>
                          <a:latin typeface="Calibri"/>
                        </a:rPr>
                        <a:t>g</a:t>
                      </a:r>
                      <a:r>
                        <a:rPr lang="en-US" sz="1200" dirty="0">
                          <a:solidFill>
                            <a:srgbClr val="1F3A5F"/>
                          </a:solidFill>
                          <a:latin typeface="Calibri"/>
                        </a:rPr>
                        <a:t>ary</a:t>
                      </a:r>
                      <a:r>
                        <a:rPr sz="1200" dirty="0">
                          <a:solidFill>
                            <a:srgbClr val="1F3A5F"/>
                          </a:solidFill>
                          <a:latin typeface="Calibri"/>
                        </a:rPr>
                        <a:t>_alert.py + hungary_mail.py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3A5F"/>
                          </a:solidFill>
                          <a:latin typeface="Calibri"/>
                        </a:rPr>
                        <a:t>Yield/uniformity shifts for OE SKUs -&gt; alert docs -&gt; Teams + PDF email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3A5F"/>
                          </a:solidFill>
                          <a:latin typeface="Calibri"/>
                        </a:rPr>
                        <a:t>REPL alerts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3A5F"/>
                          </a:solidFill>
                          <a:latin typeface="Calibri"/>
                        </a:rPr>
                        <a:t>hungary_repl.py + hungary_repl_mail.py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3A5F"/>
                          </a:solidFill>
                          <a:latin typeface="Calibri"/>
                        </a:rPr>
                        <a:t>Same for REPL SKUs, with a few rule differences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3A5F"/>
                          </a:solidFill>
                          <a:latin typeface="Calibri"/>
                        </a:rPr>
                        <a:t>Historical ETL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3A5F"/>
                          </a:solidFill>
                          <a:latin typeface="Calibri"/>
                        </a:rPr>
                        <a:t>hungary_historical.py (+ data_leneage.py)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1F3A5F"/>
                          </a:solidFill>
                          <a:latin typeface="Calibri"/>
                        </a:rPr>
                        <a:t>Read Redshift, clean, merge, write historical collections. No alerts/lots/Teams/email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206240"/>
            <a:ext cx="11247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F3A5F"/>
                </a:solidFill>
                <a:latin typeface="Calibri"/>
              </a:rPr>
              <a:t>- MongoDB via SSH tunnel in config_hungary.py (host 10.100.192.93, ec2-user, PEM key, remote localhost:27017)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F3A5F"/>
                </a:solidFill>
                <a:latin typeface="Calibri"/>
              </a:rPr>
              <a:t>- Redshift direct: db_prd_plant_gyo @ atl-dl-prd-01...redshift.amazonaws.com:5439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C62828"/>
                </a:solidFill>
                <a:latin typeface="Calibri"/>
              </a:rPr>
              <a:t>- Alerts cover UFM only; TBM and Curing are reached by back-tracking from the UFM alert (not independent alerts)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OE - Lot Identifier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BFD4EC"/>
                </a:solidFill>
                <a:latin typeface="Calibri"/>
              </a:rPr>
              <a:t>hug_alert.py -&gt; process_lot_and_alert_data()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Active OE SKUs: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11247120" cy="5029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200">
                <a:solidFill>
                  <a:srgbClr val="E6EDF3"/>
                </a:solidFill>
                <a:latin typeface="Consolas"/>
              </a:rPr>
              <a:t>ufm_collect_data.distinct("sku", {"status": "active", "oe_replacement_slob": "OE"})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E6CB5"/>
                </a:solidFill>
                <a:latin typeface="Calibri"/>
              </a:rPr>
              <a:t>lot_id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60320"/>
            <a:ext cx="5486400" cy="8229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100">
                <a:solidFill>
                  <a:srgbClr val="E6EDF3"/>
                </a:solidFill>
                <a:latin typeface="Consolas"/>
              </a:rPr>
              <a:t>lot_id = f"UFM_{machine_no}_{model_number}_{current_last_lot_number}"</a:t>
            </a:r>
          </a:p>
          <a:p>
            <a:r>
              <a:rPr sz="1100">
                <a:solidFill>
                  <a:srgbClr val="E6EDF3"/>
                </a:solidFill>
                <a:latin typeface="Consolas"/>
              </a:rPr>
              <a:t># UFM_&lt;machine&gt;_&lt;sku&gt;_&lt;n&gt;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2402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E6CB5"/>
                </a:solidFill>
                <a:latin typeface="Calibri"/>
              </a:rPr>
              <a:t>ufm_machine_model_lot_id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560320"/>
            <a:ext cx="5486400" cy="8229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100">
                <a:solidFill>
                  <a:srgbClr val="E6EDF3"/>
                </a:solidFill>
                <a:latin typeface="Consolas"/>
              </a:rPr>
              <a:t>f"{machine_no}_{model_number}_"</a:t>
            </a:r>
          </a:p>
          <a:p>
            <a:r>
              <a:rPr sz="1100">
                <a:solidFill>
                  <a:srgbClr val="E6EDF3"/>
                </a:solidFill>
                <a:latin typeface="Consolas"/>
              </a:rPr>
              <a:t>f"UFM_..._{n}_{counter+lot_size}"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6616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E6CB5"/>
                </a:solidFill>
                <a:latin typeface="Calibri"/>
              </a:rPr>
              <a:t>Sequence number (current_last_lot_number)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86200"/>
            <a:ext cx="112471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F3A5F"/>
                </a:solidFill>
                <a:latin typeface="Calibri"/>
              </a:rPr>
              <a:t>- current_last_lot_number = last_lot_dict[(sku,machine)]['max_lot_number'] + 1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3A5F"/>
                </a:solidFill>
                <a:latin typeface="Calibri"/>
              </a:rPr>
              <a:t>- Seed: lot_ufm_collect aggregate, regex ^UFM_[^_]+_[^_]+_\d+$, $split '_' + $toInt last segment, max per (sku,machine)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3A5F"/>
                </a:solidFill>
                <a:latin typeface="Calibri"/>
              </a:rPr>
              <a:t>- Raise: also scan alert_triggering_virgin_yield_collect + alert_triggering_final_yield_collect so ids never collide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- ufm_previous_machine_model_lot_id: None if lot_number==1; else last_lot_dict.get('last_ufm_machine_model_lot_id'); fallback averages_ufm_collect.find_one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- model_level_previous_lot_id = UFM_{machine}_{sku}_{n-1} (None if n==1)   |   validate ^UFM_.+_\d+$ and ^.+_UFM_.+_\d+_\d+$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OE - Incomplete-Lot Banking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BFD4EC"/>
                </a:solidFill>
                <a:latin typeface="Calibri"/>
              </a:rPr>
              <a:t>config_databse.incomplete_lots_tracker (unique sku,machine,lot_id)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47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F3A5F"/>
                </a:solidFill>
                <a:latin typeface="Calibri"/>
              </a:rPr>
              <a:t>- target_lot_size = int(row.get('lot_size', 0))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F3A5F"/>
                </a:solidFill>
                <a:latin typeface="Calibri"/>
              </a:rPr>
              <a:t>- combined_available = new_barcodes + banked_barcodes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62828"/>
                </a:solidFill>
                <a:latin typeface="Calibri"/>
              </a:rPr>
              <a:t>- If BOTH new and banked are 0 -&gt; skip entirely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62828"/>
                </a:solidFill>
                <a:latin typeface="Calibri"/>
              </a:rPr>
              <a:t>- If combined_available &lt; target_lot_size -&gt; BANK (store partial, do not alert yet)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E7D32"/>
                </a:solidFill>
                <a:latin typeface="Calibri"/>
              </a:rPr>
              <a:t>- Completion: reuse the SAME lot_id (no increment), delete the incomplete doc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E6CB5"/>
                </a:solidFill>
                <a:latin typeface="Calibri"/>
              </a:rPr>
              <a:t>Banked document fields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4023360"/>
          <a:ext cx="1124711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29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44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Field group</a:t>
                      </a:r>
                    </a:p>
                  </a:txBody>
                  <a:tcPr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Fields</a:t>
                      </a:r>
                    </a:p>
                  </a:txBody>
                  <a:tcPr marT="27432" marB="27432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Identity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sku, machine, lot_id, lot_number, previous_lot_id, ufm_machine_model_lot_id, ufm_previous_machine_model_lot_id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Payload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barcode_count, batch_data (records), target_lot_size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status = 'pending', created/updated timestamps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OE - Virgin / Final + Per-Parameter Shift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BFD4EC"/>
                </a:solidFill>
                <a:latin typeface="Calibri"/>
              </a:rPr>
              <a:t>Threshold (vs previous) OR Spec (out of band)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E6CB5"/>
                </a:solidFill>
                <a:latin typeface="Calibri"/>
              </a:rPr>
              <a:t>Virgin vs Final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72768"/>
            <a:ext cx="5669280" cy="1143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100">
                <a:solidFill>
                  <a:srgbClr val="E6EDF3"/>
                </a:solidFill>
                <a:latin typeface="Consolas"/>
              </a:rPr>
              <a:t>virgin = drop_duplicates(</a:t>
            </a:r>
          </a:p>
          <a:p>
            <a:r>
              <a:rPr sz="1100">
                <a:solidFill>
                  <a:srgbClr val="E6EDF3"/>
                </a:solidFill>
                <a:latin typeface="Consolas"/>
              </a:rPr>
              <a:t>    "barcode", keep="first")</a:t>
            </a:r>
          </a:p>
          <a:p>
            <a:r>
              <a:rPr sz="1100">
                <a:solidFill>
                  <a:srgbClr val="E6EDF3"/>
                </a:solidFill>
                <a:latin typeface="Consolas"/>
              </a:rPr>
              <a:t>final  = drop_duplicates(</a:t>
            </a:r>
          </a:p>
          <a:p>
            <a:r>
              <a:rPr sz="1100">
                <a:solidFill>
                  <a:srgbClr val="E6EDF3"/>
                </a:solidFill>
                <a:latin typeface="Consolas"/>
              </a:rPr>
              <a:t>    "barcode", keep="last")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5669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F3A5F"/>
                </a:solidFill>
                <a:latin typeface="Calibri"/>
              </a:rPr>
              <a:t>- Main lot uses VIRGIN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- allowed = virgin_set | lot_own (union; stops banked lots shrinking)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- Two docs: yield_type virgin + final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23444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E6CB5"/>
                </a:solidFill>
                <a:latin typeface="Calibri"/>
              </a:rPr>
              <a:t>Shift conditions (with previous lot)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72768"/>
            <a:ext cx="5394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1F3A5F"/>
                </a:solidFill>
                <a:latin typeface="Calibri"/>
              </a:rPr>
              <a:t>- cony: abs(cur-prev)&gt;thr_cony AND not(-lower&lt;=cur&lt;=upper)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3A5F"/>
                </a:solidFill>
                <a:latin typeface="Calibri"/>
              </a:rPr>
              <a:t>- plys: same shape as cony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3A5F"/>
                </a:solidFill>
                <a:latin typeface="Calibri"/>
              </a:rPr>
              <a:t>- yields: (prev&gt;cur) and abs(cur-prev)&gt;thr AND cur&lt;spec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- No previous: threshold False; cony/plys use positive lower bound; yields cur&lt;spec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C62828"/>
                </a:solidFill>
                <a:latin typeface="Calibri"/>
              </a:rPr>
              <a:t>- Thresholds: default 5; plys/cony/rf*/lfpp*=0.5; tbul=0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E7D32"/>
                </a:solidFill>
                <a:latin typeface="Calibri"/>
              </a:rPr>
              <a:t>- shift_occurred = threshold OR spec; deviated_parameter_alerts = subset True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OE - Alert Documents in MongoDB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BFD4EC"/>
                </a:solidFill>
                <a:latin typeface="Calibri"/>
              </a:rPr>
              <a:t>alert_flag:False on write; notifier flips True after send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18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4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557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36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Database</a:t>
                      </a:r>
                    </a:p>
                  </a:txBody>
                  <a:tcPr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Collection</a:t>
                      </a:r>
                    </a:p>
                  </a:txBody>
                  <a:tcPr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yield_type</a:t>
                      </a:r>
                    </a:p>
                  </a:txBody>
                  <a:tcPr marT="27432" marB="27432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Virgin alert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alert_db_virgin_yield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alert_triggering_ufm_with_lot_size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virgin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Final alert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alert_db_final_yield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alert_triggering_ufm_with_lot_size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final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Final table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alert_table_final_yield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alert_ufm_table_with_lot_size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Deviated (final)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alert_deviated_final_yield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alert_ufm_with_lot_size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93192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F3A5F"/>
                </a:solidFill>
                <a:latin typeface="Calibri"/>
              </a:rPr>
              <a:t>- De-dup key (OE): find_one({sku, lot_id, yield_type})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62828"/>
                </a:solidFill>
                <a:latin typeface="Calibri"/>
              </a:rPr>
              <a:t>- NO-SAVE patch (OE): _BLOCKED_DBS = {alert_db, alert_db_dashboard, alert_deviated, alert_table}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- yields get rank_counts from value_counts(), keyed f'{col}_{val}'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Teams Notification 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BFD4EC"/>
                </a:solidFill>
                <a:latin typeface="Calibri"/>
              </a:rPr>
              <a:t>hungary_mail.py  |  MessageCard via webhook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760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C62828"/>
                </a:solidFill>
                <a:latin typeface="Calibri"/>
              </a:rPr>
              <a:t>- Gate: send only when alert_flag == False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A5F"/>
                </a:solidFill>
                <a:latin typeface="Calibri"/>
              </a:rPr>
              <a:t>- TEAMS_TEXT_LIMIT = 20000 chars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A5F"/>
                </a:solidFill>
                <a:latin typeface="Calibri"/>
              </a:rPr>
              <a:t>- BATCH_THRESHOLD = 10 machines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E7D32"/>
                </a:solidFill>
                <a:latin typeface="Calibri"/>
              </a:rPr>
              <a:t>- Success: HTTP 200/202 AND no 'error'/'too large' in body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555555"/>
                </a:solidFill>
                <a:latin typeface="Calibri"/>
              </a:rPr>
              <a:t>- _color: red if actual&lt;spec else green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555555"/>
                </a:solidFill>
                <a:latin typeface="Calibri"/>
              </a:rPr>
              <a:t>- Body: summary + per-machine breakdown; split via _batch_blocks/_split_block if &gt;10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280160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E6CB5"/>
                </a:solidFill>
                <a:latin typeface="Calibri"/>
              </a:rPr>
              <a:t>MessageCard payload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627632"/>
            <a:ext cx="5394960" cy="2286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100">
                <a:solidFill>
                  <a:srgbClr val="E6EDF3"/>
                </a:solidFill>
                <a:latin typeface="Consolas"/>
              </a:rPr>
              <a:t>{</a:t>
            </a:r>
          </a:p>
          <a:p>
            <a:r>
              <a:rPr sz="1100">
                <a:solidFill>
                  <a:srgbClr val="E6EDF3"/>
                </a:solidFill>
                <a:latin typeface="Consolas"/>
              </a:rPr>
              <a:t>  "@type": "MessageCard",</a:t>
            </a:r>
          </a:p>
          <a:p>
            <a:r>
              <a:rPr sz="1100">
                <a:solidFill>
                  <a:srgbClr val="E6EDF3"/>
                </a:solidFill>
                <a:latin typeface="Consolas"/>
              </a:rPr>
              <a:t>  "@context": "http://schema</a:t>
            </a:r>
          </a:p>
          <a:p>
            <a:r>
              <a:rPr sz="1100">
                <a:solidFill>
                  <a:srgbClr val="E6EDF3"/>
                </a:solidFill>
                <a:latin typeface="Consolas"/>
              </a:rPr>
              <a:t>      .org/extensions",</a:t>
            </a:r>
          </a:p>
          <a:p>
            <a:r>
              <a:rPr sz="1100">
                <a:solidFill>
                  <a:srgbClr val="E6EDF3"/>
                </a:solidFill>
                <a:latin typeface="Consolas"/>
              </a:rPr>
              <a:t>  "summary": "...",</a:t>
            </a:r>
          </a:p>
          <a:p>
            <a:r>
              <a:rPr sz="1100">
                <a:solidFill>
                  <a:srgbClr val="E6EDF3"/>
                </a:solidFill>
                <a:latin typeface="Consolas"/>
              </a:rPr>
              <a:t>  "themeColor": "0076D7",</a:t>
            </a:r>
          </a:p>
          <a:p>
            <a:r>
              <a:rPr sz="1100">
                <a:solidFill>
                  <a:srgbClr val="E6EDF3"/>
                </a:solidFill>
                <a:latin typeface="Consolas"/>
              </a:rPr>
              <a:t>  "title": "...",</a:t>
            </a:r>
          </a:p>
          <a:p>
            <a:r>
              <a:rPr sz="1100">
                <a:solidFill>
                  <a:srgbClr val="E6EDF3"/>
                </a:solidFill>
                <a:latin typeface="Consolas"/>
              </a:rPr>
              <a:t>  "text": "..."</a:t>
            </a:r>
          </a:p>
          <a:p>
            <a:r>
              <a:rPr sz="1100">
                <a:solidFill>
                  <a:srgbClr val="E6EDF3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PDF Generation + E-mail Send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BFD4EC"/>
                </a:solidFill>
                <a:latin typeface="Calibri"/>
              </a:rPr>
              <a:t>Microsoft Graph sendMail  |  flips alert_flag on 202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47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F3A5F"/>
                </a:solidFill>
                <a:latin typeface="Calibri"/>
              </a:rPr>
              <a:t>- Size cap: MAX_EMAIL_SIZE = 20 MB; pdf_size_encoded = len * 1.33 (base64)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C62828"/>
                </a:solidFill>
                <a:latin typeface="Calibri"/>
              </a:rPr>
              <a:t>- New batch when pdf_size_encoded &gt; MAX_EMAIL_SIZE OR len(batch) &gt;= 180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F3A5F"/>
                </a:solidFill>
                <a:latin typeface="Calibri"/>
              </a:rPr>
              <a:t>- POST https://graph.microsoft.com/v1.0/users/{shared_mailbox}/sendMail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- Authorization: Bearer {mail_config.access_token}; attachments #microsoft.graph.fileAttachment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E7D32"/>
                </a:solidFill>
                <a:latin typeface="Calibri"/>
              </a:rPr>
              <a:t>- Success: HTTP 202 -&gt; alert_flag = True + send timestamp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F3A5F"/>
                </a:solidFill>
                <a:latin typeface="Calibri"/>
              </a:rPr>
              <a:t>- Subject: PCR GYO - Yield Alert: SKU - {modelno} | Size Code - {sizecode_str} (Batch {n})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- Grouped by sku; ALERT_TYPES = UFM/TBM/CURING but only UFM populated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REPL Pipeline - Differences vs OE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BFD4EC"/>
                </a:solidFill>
                <a:latin typeface="Calibri"/>
              </a:rPr>
              <a:t>hungary_repl.py + hungary_repl_mail.py (same structure)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1247119" cy="3364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0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763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Area</a:t>
                      </a:r>
                    </a:p>
                  </a:txBody>
                  <a:tcPr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REPL difference vs OE</a:t>
                      </a:r>
                    </a:p>
                  </a:txBody>
                  <a:tcPr marT="27432" marB="27432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SKU filter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oe_replacement_slob = "REPL"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Lot prefix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Still UFM_ (no separate REPL prefix)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Alert flag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alert_flag_repl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NO-SAVE patch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_BLOCKED_DBS adds lot_db and average_db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Lot number source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max_lot_dict (max of lot + averages results)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De-dup key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find_one({ufm_machine_model_lot_id, yield_type})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Yield grades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Pass grades 1, 2, 3; log_alerts_repl_&lt;date&gt;.txt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846320"/>
            <a:ext cx="11247120" cy="38404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REPL Teams gate: alert_flag_repl == False  AND  any machine overall_uniformity_yield &lt; 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4068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Caveat: hungary_repl_mail.py imports config_hungary (not a UAT config).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566160"/>
            <a:ext cx="12191695" cy="54864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PART D - Historical ETL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 i="0">
                <a:solidFill>
                  <a:srgbClr val="BFD4EC"/>
                </a:solidFill>
                <a:latin typeface="Calibri"/>
              </a:rPr>
              <a:t>hungary_historical.py  (standalone)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0">
                <a:solidFill>
                  <a:srgbClr val="9FB8D6"/>
                </a:solidFill>
                <a:latin typeface="Calibri"/>
              </a:rPr>
              <a:t>Pure backfill. NO lots, NO shift conditions, NO Teams, NO email.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Historical - Control Flow + Redshift Queries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BFD4EC"/>
                </a:solidFill>
                <a:latin typeface="Calibri"/>
              </a:rPr>
              <a:t>main() -&gt; run_data_cleaning(df_tub, df_cimcorp, df_tracking)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F3A5F"/>
                </a:solidFill>
                <a:latin typeface="Calibri"/>
              </a:rPr>
              <a:t>- q1, q2, q3 run at import time; log logs/log_historical_&lt;date&gt;.txt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C62828"/>
                </a:solidFill>
                <a:latin typeface="Calibri"/>
              </a:rPr>
              <a:t>- SKU scope = ALL via channel_no_ufm.distinct('sku') (not OE/REPL); date window manual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377440"/>
          <a:ext cx="1124711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7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670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3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Query</a:t>
                      </a:r>
                    </a:p>
                  </a:txBody>
                  <a:tcPr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Joins</a:t>
                      </a:r>
                    </a:p>
                  </a:txBody>
                  <a:tcPr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Filter / note</a:t>
                      </a:r>
                    </a:p>
                  </a:txBody>
                  <a:tcPr marT="27432" marB="27432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3A5F"/>
                          </a:solidFill>
                          <a:latin typeface="Calibri"/>
                        </a:rPr>
                        <a:t>q1 (summary)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3A5F"/>
                          </a:solidFill>
                          <a:latin typeface="Calibri"/>
                        </a:rPr>
                        <a:t>t_zf_test_completed LEFT tbm (gt_barcode=barcode) LEFT curing (barcodeid=barcode)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3A5F"/>
                          </a:solidFill>
                          <a:latin typeface="Calibri"/>
                        </a:rPr>
                        <a:t>Force cols x 0.101972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3A5F"/>
                          </a:solidFill>
                          <a:latin typeface="Calibri"/>
                        </a:rPr>
                        <a:t>q2 (visual/scrap)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3A5F"/>
                          </a:solidFill>
                          <a:latin typeface="Calibri"/>
                        </a:rPr>
                        <a:t>mv_tire LEFT t_zf_test_completed INNER stock_unit_repair (stt_id=sur_stt_id)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3A5F"/>
                          </a:solidFill>
                          <a:latin typeface="Calibri"/>
                        </a:rPr>
                        <a:t>ct_code IN + last_change_time window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3A5F"/>
                          </a:solidFill>
                          <a:latin typeface="Calibri"/>
                        </a:rPr>
                        <a:t>q3 (tracking)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3A5F"/>
                          </a:solidFill>
                          <a:latin typeface="Calibri"/>
                        </a:rPr>
                        <a:t>mv_tire LEFT tbm LEFT curing INNER stock_unit_repair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3A5F"/>
                          </a:solidFill>
                          <a:latin typeface="Calibri"/>
                        </a:rPr>
                        <a:t>sur_repair_code = '999'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Historical - Output Collections + Flags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BFD4EC"/>
                </a:solidFill>
                <a:latin typeface="Calibri"/>
              </a:rPr>
              <a:t>DB: TUB_CIMCORP_VISUAL_merged_cleaned_data_historical_data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6400798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58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9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2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Collection</a:t>
                      </a:r>
                    </a:p>
                  </a:txBody>
                  <a:tcPr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Key</a:t>
                      </a:r>
                    </a:p>
                  </a:txBody>
                  <a:tcPr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 marT="27432" marB="27432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3A5F"/>
                          </a:solidFill>
                          <a:latin typeface="Calibri"/>
                        </a:rPr>
                        <a:t>summary_historical_data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3A5F"/>
                          </a:solidFill>
                          <a:latin typeface="Calibri"/>
                        </a:rPr>
                        <a:t>barcode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3A5F"/>
                          </a:solidFill>
                          <a:latin typeface="Calibri"/>
                        </a:rPr>
                        <a:t>excl re_code 99/999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3A5F"/>
                          </a:solidFill>
                          <a:latin typeface="Calibri"/>
                        </a:rPr>
                        <a:t>scrap_historical_data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3A5F"/>
                          </a:solidFill>
                          <a:latin typeface="Calibri"/>
                        </a:rPr>
                        <a:t>barcode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3A5F"/>
                          </a:solidFill>
                          <a:latin typeface="Calibri"/>
                        </a:rPr>
                        <a:t>only re_code '999'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3A5F"/>
                          </a:solidFill>
                          <a:latin typeface="Calibri"/>
                        </a:rPr>
                        <a:t>tracking_historical_data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3A5F"/>
                          </a:solidFill>
                          <a:latin typeface="Calibri"/>
                        </a:rPr>
                        <a:t>tire_barcode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3A5F"/>
                          </a:solidFill>
                          <a:latin typeface="Calibri"/>
                        </a:rPr>
                        <a:t>incl uf_time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3A5F"/>
                          </a:solidFill>
                          <a:latin typeface="Calibri"/>
                        </a:rPr>
                        <a:t>tracking_tbm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3A5F"/>
                          </a:solidFill>
                          <a:latin typeface="Calibri"/>
                        </a:rPr>
                        <a:t>barcode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3A5F"/>
                          </a:solidFill>
                          <a:latin typeface="Calibri"/>
                        </a:rPr>
                        <a:t>UpdateOne upsert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32320" y="132588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1F3A5F"/>
                </a:solidFill>
                <a:latin typeface="Calibri"/>
              </a:rPr>
              <a:t>- last / rerun: group by barcode by uf_time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3A5F"/>
                </a:solidFill>
                <a:latin typeface="Calibri"/>
              </a:rPr>
              <a:t>- uf_yield: three grades sum == 3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3A5F"/>
                </a:solidFill>
                <a:latin typeface="Calibri"/>
              </a:rPr>
              <a:t>- vi_yield: re_code in {1100,102,2,0}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3A5F"/>
                </a:solidFill>
                <a:latin typeface="Calibri"/>
              </a:rPr>
              <a:t>- scrap_category: 'UF' if force/runout/rfv-grinding/bulge-dep else 'VISUAL'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- condition_code/desc from re_codes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E7D32"/>
                </a:solidFill>
                <a:latin typeface="Calibri"/>
              </a:rPr>
              <a:t>- _upsert_records: chunked delete+insert, CHUNK=10000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49039"/>
            <a:ext cx="6400800" cy="384048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+ file_tracking.file_metadata, INVALID_ROWS.invalid_data_TUB_home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97680"/>
            <a:ext cx="6400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Lineage companion (data_leneage.py): reads GENEOLOGY_MONGO_URI from config_hungary.py; adds uf_time from t_zf_test_completed; renames barcode -&gt; tire_barcode.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Key Constants Cheat-Sheet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BFD4EC"/>
                </a:solidFill>
                <a:latin typeface="Calibri"/>
              </a:rPr>
              <a:t>Quick reference across both notifiers + historical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19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311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63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95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Constant</a:t>
                      </a:r>
                    </a:p>
                  </a:txBody>
                  <a:tcPr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Where</a:t>
                      </a:r>
                    </a:p>
                  </a:txBody>
                  <a:tcPr marT="27432" marB="27432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Default shift threshold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OE/REPL producer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plys/cony/rf*/lfpp* threshold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0.5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OE/REPL producer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tbul threshold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OE/REPL producer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TEAMS_TEXT_LIMIT / BATCH_THRESHOLD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20000 / 10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notifiers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MAX_EMAIL_SIZE / rows per batch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20 MB / 180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notifiers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base64 size factor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1.33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notifiers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Force unit factor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0.101972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historical q1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Upsert chunk size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10000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historical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REPL uniformity gate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&lt; 99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hungary_repl_mail.py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566160"/>
            <a:ext cx="12191695" cy="54864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PART F - Shift-Wise Yield Reports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 i="0">
                <a:solidFill>
                  <a:srgbClr val="BFD4EC"/>
                </a:solidFill>
                <a:latin typeface="Calibri"/>
              </a:rPr>
              <a:t>oe_shift_wise.py   +   repl_shift_wise.py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0">
                <a:solidFill>
                  <a:srgbClr val="9FB8D6"/>
                </a:solidFill>
                <a:latin typeface="Calibri"/>
              </a:rPr>
              <a:t>Scheduled Teams reporters. NO lots, NO alert docs, NO PDF email.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Shift-Wise - Shared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BFD4EC"/>
                </a:solidFill>
                <a:latin typeface="Calibri"/>
              </a:rPr>
              <a:t>Redshift (read-only) + Mongo + Teams webhook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F3A5F"/>
                </a:solidFill>
                <a:latin typeface="Calibri"/>
              </a:rPr>
              <a:t>- Redshift direct: db_prd_plant_gyo, user usr_digital_twin_readonly, sslmode=disable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A5F"/>
                </a:solidFill>
                <a:latin typeface="Calibri"/>
              </a:rPr>
              <a:t>- Mongo: mongodb://localhost:27017/, db production_db_hungary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A5F"/>
                </a:solidFill>
                <a:latin typeface="Calibri"/>
              </a:rPr>
              <a:t>- Window math in Europe/Budapest -&gt; converted to UTC for the timestamp filter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E7D32"/>
                </a:solidFill>
                <a:latin typeface="Calibri"/>
              </a:rPr>
              <a:t>- Teams: requests.post(WEBHOOK_URL, json={'text': message}); success = HTTP 200 (plain, not MessageCard)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E6CB5"/>
                </a:solidFill>
                <a:latin typeface="Calibri"/>
              </a:rPr>
              <a:t>Collections read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611880"/>
          <a:ext cx="1124712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29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06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23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Database</a:t>
                      </a:r>
                    </a:p>
                  </a:txBody>
                  <a:tcPr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Collection</a:t>
                      </a:r>
                    </a:p>
                  </a:txBody>
                  <a:tcPr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Used for</a:t>
                      </a:r>
                    </a:p>
                  </a:txBody>
                  <a:tcPr marT="27432" marB="27432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production_db_hungary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channel_no_ufm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SKU filter (oe_replacement_slob); gt_code, sizecode, spec_overall_uniformity_yield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model_workcenter_db_hungary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model_no_status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active SKUs + gt_code set (status='active')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5166360"/>
            <a:ext cx="11247120" cy="384048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Final SKU list = INTERSECTION of active SKUs and OE/REPL SKUs (fallback: full active list)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OE Shift-Wise (oe_shift_wise.py)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BFD4EC"/>
                </a:solidFill>
                <a:latin typeface="Calibri"/>
              </a:rPr>
              <a:t>Twice daily: Shift A (06-18) / Shift B (18-06)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112471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9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86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Run</a:t>
                      </a:r>
                    </a:p>
                  </a:txBody>
                  <a:tcPr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Condition</a:t>
                      </a:r>
                    </a:p>
                  </a:txBody>
                  <a:tcPr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Shift</a:t>
                      </a:r>
                    </a:p>
                  </a:txBody>
                  <a:tcPr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Window (Hungary)</a:t>
                      </a:r>
                    </a:p>
                  </a:txBody>
                  <a:tcPr marT="27432" marB="27432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Morning ~06:30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now_hu.hour &lt; 12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Shift B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prev day 18:00 -&gt; today 06:00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Evening ~18:30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now_hu.hour &gt;= 12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Shift A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today 06:00 -&gt; today 18:00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2468880"/>
            <a:ext cx="11247120" cy="8686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100">
                <a:solidFill>
                  <a:srgbClr val="E6EDF3"/>
                </a:solidFill>
                <a:latin typeface="Consolas"/>
              </a:rPr>
              <a:t>SELECT ub.overallufmgrade, ub.sku, tbm.vst_vhmc_mes_gt_code FROM t_zf_test_completed ub</a:t>
            </a:r>
          </a:p>
          <a:p>
            <a:r>
              <a:rPr sz="1100">
                <a:solidFill>
                  <a:srgbClr val="E6EDF3"/>
                </a:solidFill>
                <a:latin typeface="Consolas"/>
              </a:rPr>
              <a:t>LEFT JOIN t_tbm_pcr_productiondata tbm ON ub.barcode = tbm.vst_vhmc_mes_gt_barcode</a:t>
            </a:r>
          </a:p>
          <a:p>
            <a:r>
              <a:rPr sz="1100">
                <a:solidFill>
                  <a:srgbClr val="E6EDF3"/>
                </a:solidFill>
                <a:latin typeface="Consolas"/>
              </a:rPr>
              <a:t>WHERE ub.timestamp &gt;= start AND &lt; end AND ub.sku IN (...) AND tbm.gt_code IN (...)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520440"/>
            <a:ext cx="11247120" cy="38404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Actual OE Yield (%) = Count(grades 1,2) / Count(grades 1,2,3,4,5) * 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1247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1F3A5F"/>
                </a:solidFill>
                <a:latin typeface="Calibri"/>
              </a:rPr>
              <a:t>- LEFT join -&gt; SKU/GT with no passing tyres still shows (yield 0%)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C62828"/>
                </a:solidFill>
                <a:latin typeface="Calibri"/>
              </a:rPr>
              <a:t>- OE Dropped (Y/N) = Actual &lt; spec_overall_uniformity_yield (red Y / green N)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F3A5F"/>
                </a:solidFill>
                <a:latin typeface="Calibri"/>
              </a:rPr>
              <a:t>- GRAND TOTAL row = sum(1,2)/sum(1,2,3,4,5)*100 (not an average of per-SKU yields)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- No-data condition: still posts a 'No production data found' message to Teams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- Columns: SKU, GT Code, Tyre Description, Total Produced, Actual %, Threshold %, Dropped - sorted by Total desc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REPL Shift-Wise (repl_shift_wise.py)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BFD4EC"/>
                </a:solidFill>
                <a:latin typeface="Calibri"/>
              </a:rPr>
              <a:t>Fixed 24h daily window: yesterday 06:00 -&gt; today 06:00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47120" cy="38404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Actual REPL Yield (%) = Count(grades 1,2,3) / Count(grades 1,2,3,4,5) * 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112471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1F3A5F"/>
                </a:solidFill>
                <a:latin typeface="Calibri"/>
              </a:rPr>
              <a:t>- SKU filter oe_replacement_slob = 'REPL'; label 'Daily' (no Shift A/B split)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3A5F"/>
                </a:solidFill>
                <a:latin typeface="Calibri"/>
              </a:rPr>
              <a:t>- Query adds barcode, timestamp, tbm_machine (equipmentid), curing_press (curingpressid), ufm_machine (ub.ufm)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3A5F"/>
                </a:solidFill>
                <a:latin typeface="Calibri"/>
              </a:rPr>
              <a:t>- Extra LEFT JOIN t_curing_history ch ON ub.barcode = ch.barcodeid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C62828"/>
                </a:solidFill>
                <a:latin typeface="Calibri"/>
              </a:rPr>
              <a:t>- Dedup: keep LATEST record per barcode (sort timestamp desc, drop_duplicates keep='first')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3A5F"/>
                </a:solidFill>
                <a:latin typeface="Calibri"/>
              </a:rPr>
              <a:t>- Extra columns: Overall UFM Grade (3), (4), (5), (4+5)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- Sort by Overall UFM Grade (4+5) descending (worst first)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4340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E6CB5"/>
                </a:solidFill>
                <a:latin typeface="Calibri"/>
              </a:rPr>
              <a:t>Per-machine breakdown (top 3 SKUs, REPL only)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4709160"/>
          <a:ext cx="11247118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0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775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Machine type</a:t>
                      </a:r>
                    </a:p>
                  </a:txBody>
                  <a:tcPr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Source column</a:t>
                      </a:r>
                    </a:p>
                  </a:txBody>
                  <a:tcPr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Flag</a:t>
                      </a:r>
                    </a:p>
                  </a:txBody>
                  <a:tcPr marT="27432" marB="27432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3A5F"/>
                          </a:solidFill>
                          <a:latin typeface="Calibri"/>
                        </a:rPr>
                        <a:t>UFM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3A5F"/>
                          </a:solidFill>
                          <a:latin typeface="Calibri"/>
                        </a:rPr>
                        <a:t>t_zf_test_completed.ufm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3A5F"/>
                          </a:solidFill>
                          <a:latin typeface="Calibri"/>
                        </a:rPr>
                        <a:t>red if yield &lt; 97%, else green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3A5F"/>
                          </a:solidFill>
                          <a:latin typeface="Calibri"/>
                        </a:rPr>
                        <a:t>Curing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3A5F"/>
                          </a:solidFill>
                          <a:latin typeface="Calibri"/>
                        </a:rPr>
                        <a:t>t_curing_history.curingpressid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3A5F"/>
                          </a:solidFill>
                          <a:latin typeface="Calibri"/>
                        </a:rPr>
                        <a:t>Num=1,2,3  Den=1,2,3,4,5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3A5F"/>
                          </a:solidFill>
                          <a:latin typeface="Calibri"/>
                        </a:rPr>
                        <a:t>TBM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3A5F"/>
                          </a:solidFill>
                          <a:latin typeface="Calibri"/>
                        </a:rPr>
                        <a:t>t_tbm_pcr_productiondata.equipmentid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3A5F"/>
                          </a:solidFill>
                          <a:latin typeface="Calibri"/>
                        </a:rPr>
                        <a:t>sorted by Total Tyres desc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OE vs REPL Shift-Wise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BFD4EC"/>
                </a:solidFill>
                <a:latin typeface="Calibri"/>
              </a:rPr>
              <a:t>Same reporter skeleton, different grade logic + schedule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11247119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9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89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88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Dimension</a:t>
                      </a:r>
                    </a:p>
                  </a:txBody>
                  <a:tcPr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OE (oe_shift_wise.py)</a:t>
                      </a:r>
                    </a:p>
                  </a:txBody>
                  <a:tcPr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REPL (repl_shift_wise.py)</a:t>
                      </a:r>
                    </a:p>
                  </a:txBody>
                  <a:tcPr marT="27432" marB="27432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Schedule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Twice daily (Shift A / B)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Once daily (24h window)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SKU filter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oe_replacement_slob = OE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oe_replacement_slob = REPL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Pass grades (num)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1, 2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1, 2, 3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Measured (den)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1, 2, 3, 4, 5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1, 2, 3, 4, 5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Curing join / dedup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no / no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yes / latest per barcode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Grade breakdown cols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3, 4, 5, 4+5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Per-machine breakdown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yes (top 3 SKUs; UFM/Curing/TBM)</a:t>
                      </a:r>
                    </a:p>
                  </a:txBody>
                  <a:tcPr marT="18288" marB="18288">
                    <a:solidFill>
                      <a:srgbClr val="ED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Teams payload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{'text': ...} webhook, HTTP 200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3A5F"/>
                          </a:solidFill>
                          <a:latin typeface="Calibri"/>
                        </a:rPr>
                        <a:t>same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66928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Caveat: both reporters hard-code Redshift creds + the Teams webhook, and read Mongo from mongodb://localhost:27017/ directly (not config_hungary.py).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2908</Words>
  <Application>Microsoft Office PowerPoint</Application>
  <PresentationFormat>Widescreen</PresentationFormat>
  <Paragraphs>312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Mukesh Automatonai</cp:lastModifiedBy>
  <cp:revision>2</cp:revision>
  <dcterms:created xsi:type="dcterms:W3CDTF">2013-01-27T09:14:16Z</dcterms:created>
  <dcterms:modified xsi:type="dcterms:W3CDTF">2026-10-14T13:49:52Z</dcterms:modified>
  <cp:category/>
</cp:coreProperties>
</file>